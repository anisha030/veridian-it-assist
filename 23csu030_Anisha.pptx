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112" d="100"/>
          <a:sy n="112" d="100"/>
        </p:scale>
        <p:origin x="6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58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prototype: a single-file HTML IT service-desk agent built on the supplied Assignment 2 data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framing: this is a decision agent, not a chatbot. The four-outcome model follows directly from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five layers. Emphasise that knowledge and decision logic are separate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stages are fixed; only the outcome varies. Ticket creation is an output of the decision, not a side effect of receiving a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outcomes, two of which produce tickets. The distinguishing question is always: who holds the authority to act?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input sources with different standing: policy is authoritative, requests are the workload, history is context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 are design decisions. Each one can be traced to a specific request in the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the division of labour: AI for speed and coverage, human judgement for authority and policy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of these to demo live: one Resolve and one Escalate, so the contrast in handling is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design principle — it is the single sentence that explains every decision in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5120640" cy="5120640"/>
          </a:xfrm>
          <a:prstGeom prst="ellipse">
            <a:avLst/>
          </a:prstGeom>
          <a:solidFill>
            <a:srgbClr val="0B6E4F">
              <a:alpha val="28000"/>
            </a:srgbClr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159768">
              <a:alpha val="18000"/>
            </a:srgbClr>
          </a:solidFill>
          <a:ln w="12700">
            <a:solidFill>
              <a:srgbClr val="1597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37160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· PROTOTYPE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Veridian</a:t>
            </a: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 Assist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service-desk </a:t>
            </a:r>
            <a:r>
              <a:rPr lang="en-US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r>
              <a:rPr lang="en-US" sz="160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resolves what is safe, routes what needs authority, and escalates what is risky.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9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736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D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outcomes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9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4736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D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sources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9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4736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D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069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59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736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D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tickets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5440680"/>
            <a:ext cx="8229600" cy="0"/>
          </a:xfrm>
          <a:prstGeom prst="line">
            <a:avLst/>
          </a:prstGeom>
          <a:noFill/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55961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 prototype  ·  Deterministic decision engine  ·  Full session audit trail</a:t>
            </a:r>
            <a:endParaRPr lang="en-US" sz="11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8F28A39-559F-0AD6-F4DF-120873F2DB12}"/>
              </a:ext>
            </a:extLst>
          </p:cNvPr>
          <p:cNvSpPr txBox="1"/>
          <p:nvPr/>
        </p:nvSpPr>
        <p:spPr>
          <a:xfrm>
            <a:off x="9006840" y="5632704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Anisha Boken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Stance we took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classifier that only answers questions would be the wrong build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1F9F4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 arrive as free text, not as clean categories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are self-service; some need approval; some are security events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overlap and occasionally conflict (KB-03 vs AMP)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raised for self-service issues are pure queue noise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99632" y="155448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1F9F4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73952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stance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10312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decides an action, it does not just write a reply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is checked before any outcome is issued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is a deliberate output, never a default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names the policy it came from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11000232" cy="914400"/>
          </a:xfrm>
          <a:prstGeom prst="roundRect">
            <a:avLst>
              <a:gd name="adj" fmla="val 8000"/>
            </a:avLst>
          </a:prstGeom>
          <a:solidFill>
            <a:srgbClr val="06211A"/>
          </a:solidFill>
          <a:ln w="12700">
            <a:solidFill>
              <a:srgbClr val="062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3840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7F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what is safe.  Route what requires authority.  Escalate what is risky.  Ask when information is missing.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4892040"/>
            <a:ext cx="348386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5047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for self-service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5340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reset, guest Wi-Fi, mailbox archiving and VPN renewal close without touching the queue.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52544" y="4892040"/>
            <a:ext cx="348386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53712" y="5047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only where work exists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5340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Escalate produce a structured ticket with a named owner and a next action.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10728" y="4892040"/>
            <a:ext cx="348386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11896" y="5047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invented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11896" y="5340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supplied pack does not cover it, the agent clarifies or escalates instead of guessing.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of the Complete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one self-contained HTML artefact — no backend, no external calls at runtime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6720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282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824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3852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HTML/CSS/JS single file. Four views: Agent, Ticket Queue, Knowledge Base, Audit Trail.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58768" y="2368296"/>
            <a:ext cx="182880" cy="91440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478024"/>
            <a:ext cx="6720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633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59768"/>
          </a:solidFill>
          <a:ln w="12700">
            <a:solidFill>
              <a:srgbClr val="159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58775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analyzer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84378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free text, extracts intent signals and entities (device age, failed attempts, employment type).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58768" y="3273552"/>
            <a:ext cx="182880" cy="91440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3383280"/>
            <a:ext cx="6720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53872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AC"/>
          </a:solidFill>
          <a:ln w="12700">
            <a:solidFill>
              <a:srgbClr val="2563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538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4930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74904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policy pack KB-01 to KB-10 plus the Asset Management Policy, held as structured records.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58768" y="4178808"/>
            <a:ext cx="182880" cy="91440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288536"/>
            <a:ext cx="6720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4439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D08700"/>
          </a:solidFill>
          <a:ln w="12700">
            <a:solidFill>
              <a:srgbClr val="D08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7724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3982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65429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match → authority check → risk check → one of Resolve, Clarify, Route, Escalate.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58768" y="5084064"/>
            <a:ext cx="182880" cy="91440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" y="5193792"/>
            <a:ext cx="6720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53492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77240" y="5349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3035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55955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ticket for Route and Escalate only, plus an append-only session audit trail.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1572768"/>
            <a:ext cx="4005072" cy="3246120"/>
          </a:xfrm>
          <a:prstGeom prst="roundRect">
            <a:avLst>
              <a:gd name="adj" fmla="val 2254"/>
            </a:avLst>
          </a:prstGeom>
          <a:solidFill>
            <a:srgbClr val="F1F9F4"/>
          </a:solidFill>
          <a:ln w="12700">
            <a:solidFill>
              <a:srgbClr val="A9C4B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89520" y="4983480"/>
            <a:ext cx="4005072" cy="1161288"/>
          </a:xfrm>
          <a:prstGeom prst="roundRect">
            <a:avLst>
              <a:gd name="adj" fmla="val 4724"/>
            </a:avLst>
          </a:prstGeom>
          <a:solidFill>
            <a:srgbClr val="F1F9F4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818120" y="51389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single-file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541324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 by opening the file — no install, no server, no data leaving the machine. The whole decision path is inspectable in one place.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7805E3C-DCD7-9EC8-D5A8-BC0BAF19B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831" y="1764792"/>
            <a:ext cx="2570241" cy="2894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Flow: Request to Outcome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travels the same five stages before any outcome is issued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95528" y="1700784"/>
            <a:ext cx="310896" cy="310896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95528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728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72821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 received as free text through the agent composer.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157984"/>
            <a:ext cx="91440" cy="73152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2231136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5528" y="2359152"/>
            <a:ext cx="310896" cy="310896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95528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43584" y="2386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3865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classified; entities extracted — age, attempts, employment type.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816352"/>
            <a:ext cx="91440" cy="73152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4360" y="2889504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5528" y="3017520"/>
            <a:ext cx="310896" cy="310896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95528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43584" y="3044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30449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policy located in the supplied pack; the source ID is recorded.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3474720"/>
            <a:ext cx="91440" cy="73152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54787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3675888"/>
            <a:ext cx="310896" cy="310896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43584" y="3703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authority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0332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act? Self-service, IT, manager, Finance or Security.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4133088"/>
            <a:ext cx="91440" cy="73152"/>
          </a:xfrm>
          <a:prstGeom prst="downArrow">
            <a:avLst/>
          </a:prstGeom>
          <a:solidFill>
            <a:srgbClr val="B9CBC2"/>
          </a:solidFill>
          <a:ln w="12700">
            <a:solidFill>
              <a:srgbClr val="B9CB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" y="420624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95528" y="4334256"/>
            <a:ext cx="310896" cy="310896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95528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243584" y="43616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0" y="436168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Resolve, Clarify, Route or Escalate — with reasoning attached.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937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handling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4360" y="532180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94360" y="5367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57400" y="532180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2563AC"/>
          </a:solidFill>
          <a:ln w="12700">
            <a:solidFill>
              <a:srgbClr val="2563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057400" y="5367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057400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20440" y="532180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D08700"/>
          </a:solidFill>
          <a:ln w="12700">
            <a:solidFill>
              <a:srgbClr val="D08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3520440" y="5367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520440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83480" y="532180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983480" y="5367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983480" y="55869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raised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" y="59984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Route and Escalate create a ticket. Every Resolve carries a named escalation trigger, so the path back into the queue stays defined.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629400" y="5029200"/>
            <a:ext cx="4965192" cy="1353312"/>
          </a:xfrm>
          <a:prstGeom prst="roundRect">
            <a:avLst>
              <a:gd name="adj" fmla="val 5405"/>
            </a:avLst>
          </a:prstGeom>
          <a:solidFill>
            <a:srgbClr val="E3F3EA"/>
          </a:solidFill>
          <a:ln w="12700">
            <a:solidFill>
              <a:srgbClr val="BFE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6885432" y="5175504"/>
            <a:ext cx="4453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output carries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885432" y="5449824"/>
            <a:ext cx="4453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Intent, status and ticket requirement up top; then the policy finding, the next action, the source KB article, and the reasoning behind the decision — visible to the employee, not hidden.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1124712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9393C6D-0A49-8DD5-85B2-1877948DF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643" y="950976"/>
            <a:ext cx="5326705" cy="4014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Four-Outcome Decision Framework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each outcome, and what the employee gets back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801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0392" y="1801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17922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fully answers it and the action sits with the employee.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23500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cases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58775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· Guest Wi-Fi · Mailbox archiving · VPN renewal · Printer first-line steps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" y="3154680"/>
            <a:ext cx="4882896" cy="0"/>
          </a:xfrm>
          <a:prstGeom prst="line">
            <a:avLst/>
          </a:prstGeom>
          <a:noFill/>
          <a:ln w="12700">
            <a:solidFill>
              <a:srgbClr val="D8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50392" y="323697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answer plus escalation trigger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57276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55664" y="180136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563AC"/>
          </a:solidFill>
          <a:ln w="12700">
            <a:solidFill>
              <a:srgbClr val="2563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55664" y="18013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827264" y="17922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branches, and the request does not say which branch applies.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23500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cases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55664" y="258775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without employment type · Software without catalog status · Vague requests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55664" y="3154680"/>
            <a:ext cx="4882896" cy="0"/>
          </a:xfrm>
          <a:prstGeom prst="line">
            <a:avLst/>
          </a:prstGeom>
          <a:noFill/>
          <a:ln w="12700">
            <a:solidFill>
              <a:srgbClr val="D8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55664" y="323697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one targeted question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390448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0392" y="413308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08700"/>
          </a:solidFill>
          <a:ln w="12700">
            <a:solidFill>
              <a:srgbClr val="D08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50392" y="4133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221992" y="41239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work for a named human owner, or an approval gate to clear.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" y="46817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cases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491947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unlock · Contractor VPN · Quota increase · Laptop verification · WFH shipping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0392" y="5486400"/>
            <a:ext cx="4882896" cy="0"/>
          </a:xfrm>
          <a:prstGeom prst="line">
            <a:avLst/>
          </a:prstGeom>
          <a:noFill/>
          <a:ln w="12700">
            <a:solidFill>
              <a:srgbClr val="D8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50392" y="556869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8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ticket · owner and next 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390448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55664" y="413308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455664" y="4133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827264" y="41239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Security-sensitive or privileged; delay or self-service increases risk.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55664" y="46817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cases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55664" y="4919472"/>
            <a:ext cx="4882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malware reports · Non-catalog software · Privileged admin access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55664" y="5486400"/>
            <a:ext cx="4882896" cy="0"/>
          </a:xfrm>
          <a:prstGeom prst="line">
            <a:avLst/>
          </a:prstGeom>
          <a:noFill/>
          <a:ln w="12700">
            <a:solidFill>
              <a:srgbClr val="D8E3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455664" y="556869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ticket · routed past the desk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6272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outcome also records intent, policy finding, authority check, risk level and status — the full reasoning is visible to the employee, not hidden.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and Sources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knows comes from the supplied Assignment 2 data pack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95776" y="1508760"/>
            <a:ext cx="6502975" cy="122529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24376" y="176479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384496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03419" y="196596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KB-01 Password Reset · KB-02 VPN · KB-03 Laptop Replacement · KB-04 Software · KB-05 Printer · KB-06 Mailbox Quota · KB-07 Guest Wi-Fi · KB-08 Expense Tool · KB-09 Security Incidents · KB-10 WFH Equipment · Asset Management Policy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5776" y="2875788"/>
            <a:ext cx="6502975" cy="10424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24376" y="2994209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9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384496" y="2999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requests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9139" y="3151943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REQ-01 to REQ-15, spanning clear requests, ambiguous ones, conflicting policy cases, out-of-scope asks and one deliberately vague message.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78284" y="4068628"/>
            <a:ext cx="6502975" cy="993379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06884" y="4269797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563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384496" y="417835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tickets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49139" y="434707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TK-1042 to TK-1051, used as precedent and context only — for example TK-1050, an admin request rejected for missing justification.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20" y="5212431"/>
            <a:ext cx="4025670" cy="1513332"/>
          </a:xfrm>
          <a:prstGeom prst="roundRect">
            <a:avLst>
              <a:gd name="adj" fmla="val 3810"/>
            </a:avLst>
          </a:prstGeom>
          <a:solidFill>
            <a:srgbClr val="06211A"/>
          </a:solidFill>
          <a:ln w="12700">
            <a:solidFill>
              <a:srgbClr val="06211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06884" y="5377833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boundary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06884" y="5484695"/>
            <a:ext cx="36621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answers only from this pack. Ticket history gives context but is never treated as policy, and nothing is inferred from outside sources.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935D38-3F50-1E5A-9AB8-282353424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711" y="1348215"/>
            <a:ext cx="5329740" cy="40296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Made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openly, because each one shapes how a request is handled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9F4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810512"/>
            <a:ext cx="329184" cy="32918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50392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17922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conflicts need a human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0848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allows replacement at 3 years; the AMP sets a 4-year refresh cycle. A 3.5-year device sits between them, so the agent routes with both policies cited rather than picking a winner.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9632" y="1572768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55664" y="1810512"/>
            <a:ext cx="329184" cy="32918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55664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12864" y="17922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is not authorisation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912864" y="20848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deadline never substitutes for a business justification or an owner's approval — the month-end admin-access request is clarified, not raised.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145536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9F4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3383280"/>
            <a:ext cx="329184" cy="32918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0392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07592" y="3364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facts are provisional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36576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age, employment type and approval status are taken as stated for classification, but flagged for verification in the ticket.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9632" y="3145536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55664" y="3383280"/>
            <a:ext cx="329184" cy="32918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55664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12864" y="33649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means ask, not assume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365760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eligibility cannot be established from the pack, the outcome is Clarify — a wrong path costs more than one extra question.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4718304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9F4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0392" y="4956048"/>
            <a:ext cx="329184" cy="32918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50392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07592" y="49377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boundaries are strict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307592" y="52303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Finance or Security owns the decision (expense access, WFH allowance, phishing), IT does not take it 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4718304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55664" y="4956048"/>
            <a:ext cx="329184" cy="329184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455664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912864" y="49377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per request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12864" y="52303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 produces exactly one outcome with one owner, keeping the audit trail unambiguous.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 used, and how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was applied across the build — and where judgement stayed with us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690372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81965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—  Reasoning and build partner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057400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 the policy pack, stress-tested the four-outcome model against each of the 15 requests, and generated the decision-engine logic and the HTML/CSS interface.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2807208"/>
            <a:ext cx="690372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302666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59768"/>
          </a:solidFill>
          <a:ln w="12700">
            <a:solidFill>
              <a:srgbClr val="1597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04672" y="3026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2990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—  Cross-checking and drafting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3264408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opinion on ambiguous cases, alternative phrasing for employee-facing responses, and quick sanity checks on edge-case coverage.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690372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4672" y="423367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2563AC"/>
          </a:solidFill>
          <a:ln w="12700">
            <a:solidFill>
              <a:srgbClr val="2563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04672" y="4233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419709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 —  In-editor assistance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4471416"/>
            <a:ext cx="5806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Autocompletion while refactoring the analyzer functions and the rendering helpers in the prototype.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26680" y="1600200"/>
            <a:ext cx="3867912" cy="2331720"/>
          </a:xfrm>
          <a:prstGeom prst="roundRect">
            <a:avLst>
              <a:gd name="adj" fmla="val 3137"/>
            </a:avLst>
          </a:prstGeom>
          <a:solidFill>
            <a:srgbClr val="E3F3EA"/>
          </a:solidFill>
          <a:ln w="12700">
            <a:solidFill>
              <a:srgbClr val="BFE0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973568" y="1783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were used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2121408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with the policy pack as the only source of truth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justify each classification against a KB reference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reviewed request by request before it was accepted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policy rejected, never patched 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26680" y="4114800"/>
            <a:ext cx="3867912" cy="1975104"/>
          </a:xfrm>
          <a:prstGeom prst="roundRect">
            <a:avLst>
              <a:gd name="adj" fmla="val 3704"/>
            </a:avLst>
          </a:prstGeom>
          <a:solidFill>
            <a:srgbClr val="06211A"/>
          </a:solidFill>
          <a:ln w="12700">
            <a:solidFill>
              <a:srgbClr val="0621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973568" y="42976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stayed human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73568" y="4626864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model, the authority rules, the conflict handling between KB-03 and AMP, and the final decision on every one of the 15 requests. AI accelerated the build; it did not set the policy.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539496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adjust the tool list above to match exactly what you used.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 from the Request 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requests, four different outcomes — same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09083" y="1610027"/>
            <a:ext cx="5655607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405427" y="1765475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05427" y="2003219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Wi-Fi for a visitor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71387" y="175115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2378371" y="1774619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21438" y="209983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KB-07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779858" y="165607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at the front-desk kiosk, valid 24 hours. No ticket raised.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5115" y="2698163"/>
            <a:ext cx="5669575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05427" y="2881043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05427" y="3118787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dead at 3.5 years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8371" y="2835323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D08700"/>
          </a:solidFill>
          <a:ln w="12700">
            <a:solidFill>
              <a:srgbClr val="D08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218518" y="2844467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499698" y="320565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KB-03 + AMP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752383" y="2827393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the 3-year threshold but inside the 4-year cycle — verify, loan a device, send for Finance sign-off.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5115" y="3813731"/>
            <a:ext cx="566957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5427" y="3996611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8283" y="4234355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being forwarded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343955" y="3950891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2343955" y="3941747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79573" y="433493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KB-09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737993" y="3965566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Security immediately; stop forwarding, which widens the blast radius.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5115" y="4929299"/>
            <a:ext cx="5669574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blurRad="76200" dist="12700" dir="5400000" algn="bl" rotWithShape="0">
              <a:srgbClr val="9AAAA2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405427" y="5112179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99291" y="5364439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D1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admin access, month-end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378371" y="507839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2563AC"/>
          </a:solidFill>
          <a:ln w="12700">
            <a:solidFill>
              <a:srgbClr val="2563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346108" y="5066459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712075" y="544453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TK-1050 precedent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752383" y="5129839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policy grants this. Justification and owner approval required before anything is raised.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247120" y="6263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A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6BB1B8C-D5D2-7F6B-AE5D-513C37B91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833" y="1475684"/>
            <a:ext cx="6260167" cy="44221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0B6E4F">
              <a:alpha val="22000"/>
            </a:srgbClr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prototype demonstrates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96926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D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it would go next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0A2B21"/>
          </a:solidFill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13816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9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decisions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258568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names its policy source, authority check and risk level.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7830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0A2B21"/>
          </a:solidFill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877056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9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that stays clean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77056" y="2258568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exist only where a human genuinely has to act.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0A2B21"/>
          </a:solidFill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9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failure modes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3630168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produces a question or an escalation, never a guess.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3154680"/>
            <a:ext cx="2834640" cy="1170432"/>
          </a:xfrm>
          <a:prstGeom prst="roundRect">
            <a:avLst>
              <a:gd name="adj" fmla="val 6250"/>
            </a:avLst>
          </a:prstGeom>
          <a:solidFill>
            <a:srgbClr val="0A2B21"/>
          </a:solidFill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77056" y="33375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97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audit trail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3630168"/>
            <a:ext cx="2450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 is logged in sequence for review after the session.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783080"/>
            <a:ext cx="4736592" cy="2587752"/>
          </a:xfrm>
          <a:prstGeom prst="roundRect">
            <a:avLst>
              <a:gd name="adj" fmla="val 2827"/>
            </a:avLst>
          </a:prstGeom>
          <a:solidFill>
            <a:srgbClr val="0A2B21"/>
          </a:solidFill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132320" y="19659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37744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the live ITSM system so tickets are raised for real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identity verification before any privileged action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resolved outcomes back in to tune the clarify threshold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7E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policy pack, keeping the strict data boundary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11000232" cy="0"/>
          </a:xfrm>
          <a:prstGeom prst="line">
            <a:avLst/>
          </a:prstGeom>
          <a:noFill/>
          <a:ln w="12700">
            <a:solidFill>
              <a:srgbClr val="1E4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5138928"/>
            <a:ext cx="11000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what is safe. Route what requires authority. Escalate what is risky. Ask when information is missing.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Veridian IT Assist  ·  Assignment 2 prototype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5760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597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1777</Words>
  <Application>Microsoft Macintosh PowerPoint</Application>
  <PresentationFormat>Widescreen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anisha23csu030</cp:lastModifiedBy>
  <cp:revision>22</cp:revision>
  <dcterms:created xsi:type="dcterms:W3CDTF">2026-09-17T13:58:07Z</dcterms:created>
  <dcterms:modified xsi:type="dcterms:W3CDTF">2026-09-17T14:26:18Z</dcterms:modified>
</cp:coreProperties>
</file>